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31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54DEA632-E2C6-4F8D-97AB-1B8F16A16A0A}">
          <p14:sldIdLst/>
        </p14:section>
        <p14:section name="교육과정" id="{1929C56E-9881-44AA-8E42-196EC967E37A}">
          <p14:sldIdLst>
            <p14:sldId id="2490"/>
            <p14:sldId id="2529"/>
            <p14:sldId id="2531"/>
            <p14:sldId id="2532"/>
          </p14:sldIdLst>
        </p14:section>
        <p14:section name="교육과정" id="{32570A38-BFA7-48D5-AC99-81FA9B423C4C}">
          <p14:sldIdLst/>
        </p14:section>
        <p14:section name="교육과정" id="{ED605956-F698-476E-8876-485380BB857B}">
          <p14:sldIdLst/>
        </p14:section>
        <p14:section name="교육과정" id="{85CAF41B-8C89-461C-91B9-B9514727A777}">
          <p14:sldIdLst/>
        </p14:section>
        <p14:section name="교육과정" id="{0EE0E26C-A4B5-4E49-91D2-C1D155A4550D}">
          <p14:sldIdLst/>
        </p14:section>
        <p14:section name="5. 현업 문제 PBL 멘토링 교육" id="{C21171B3-BA3E-4CFF-8C3C-433F9E7A99CB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5E67"/>
    <a:srgbClr val="5B567F"/>
    <a:srgbClr val="5661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7" autoAdjust="0"/>
    <p:restoredTop sz="94660"/>
  </p:normalViewPr>
  <p:slideViewPr>
    <p:cSldViewPr snapToGrid="0">
      <p:cViewPr varScale="1">
        <p:scale>
          <a:sx n="91" d="100"/>
          <a:sy n="91" d="100"/>
        </p:scale>
        <p:origin x="102" y="45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B3F82C-9983-4F8B-9C62-BE5E6D2FCD5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558E1B-0C55-427B-9D9C-AAB38B1E2A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7400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973602-0913-0573-09B3-DCB2C19DE6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D6C778E-CF00-3C2F-7F5F-5F9B5549F6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7B29CD-1489-354F-8B47-E28C3BEEC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74BA-BE36-4DC8-A0A8-39C5C1060AD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D3C32E-4EE9-4D79-9AFF-042FA4319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A69D4A-EB01-DBBE-3B33-157742B0B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8015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DC6DE0-6AFE-1688-ED92-61251B7E8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BD296D-8FB0-0F7F-8D31-D0737C551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676F91-B553-9B81-3EC5-A2F248A9B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74BA-BE36-4DC8-A0A8-39C5C1060AD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798D56-44AC-6018-3612-A5F90A98A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DA79F5-6754-D63E-991C-691DB6C31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10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FD2F91-7DAD-613B-587B-CBF126D43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8327E5-F443-2A43-0BE6-6C7B26CF20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AAA5DE-32FF-1F12-0D58-45390931D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74BA-BE36-4DC8-A0A8-39C5C1060AD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E14D8D-AD1E-5DD6-C431-64D5AD4F9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FA7704-7BCD-AA40-D342-D5AEE74CA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661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D43356-E914-D256-C8B7-CEC5EEBD9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158DE7-0ADD-3153-987B-99724FF43D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6073E3F-AC22-C1E8-B5FD-06B2692161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300FFA0-F005-90DB-6ED4-A415174D8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74BA-BE36-4DC8-A0A8-39C5C1060AD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2439EDB-7279-99D9-6637-AD676FEA9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370E1D7-5CE9-502B-2A5C-7C7D01795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282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1C28B7-1A94-834A-8956-A74F20861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2E2C8C-E5CB-9746-6EC8-7F09541EFD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84DF962-B994-E62B-38C5-22992EE4FE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B5AB24C-F070-3B25-E0CF-EC389BE118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2014C44-4492-9E59-A852-FDD6615AC2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6BBDD98-8CAB-18E5-60A5-27DD42D85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74BA-BE36-4DC8-A0A8-39C5C1060AD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65BEA2B-C929-91C2-C441-844A8AB65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8A53FD5-6C64-762F-B8D1-BB1275448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2093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E33808-B705-9F03-D688-7802E8997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D1A027D-09CF-54CA-AD75-547BBE912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74BA-BE36-4DC8-A0A8-39C5C1060AD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99D0D5A-4C1A-B34B-5789-7FFDCAAFA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9095C8F-18EE-DC59-705B-2109F0105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0810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9F0F0DB-FE54-75D1-27DE-70CF48DF3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74BA-BE36-4DC8-A0A8-39C5C1060AD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DA6B04E-F809-C280-0B33-03230375B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D86CDC-3BD0-A801-C198-C43DBDDAE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2491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4FFA99-CAF6-0784-C092-0D26739CB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858D3F-0338-A001-296A-B67F03E0D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E1DDA89-84EB-4551-ADAB-8DB31459EC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20978F4-FBE0-E70D-BE54-AC34A40EE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74BA-BE36-4DC8-A0A8-39C5C1060AD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5395483-D372-6A20-86AC-7E62305BF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C62B05A-5333-D453-3F0D-A742DF6AB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1072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213357-4CF4-B52A-21B9-14FEA82EF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DA4549E-D629-E70B-E7BC-0BF8C4A29F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8CAEE35-D934-930E-3D11-42F29CBD53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CE1C319-5D3E-9218-318B-54D97A899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74BA-BE36-4DC8-A0A8-39C5C1060AD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DEE98A2-9499-16A1-22CC-EF2CB60CF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4198B2C-440A-BF7A-DA56-6155BEC79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6783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02155E-C5C8-059B-8A05-64F430BA5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BFDF975-92C6-724C-45E1-6FADB384D9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5E27C6-76A4-2176-26AE-2E8E9C8AA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74BA-BE36-4DC8-A0A8-39C5C1060AD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79ECB9-DE15-EBD3-1CFE-59CD518A2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91D5B0-1DE2-03C2-C0AB-C4D8375D8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6558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1181378-DADB-BF10-2E12-D7E138C404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E5B52A4-22BD-F505-A054-EC1D6E2ADD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2C84B2-DE4F-4000-5EA5-7C9DD7CD2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74BA-BE36-4DC8-A0A8-39C5C1060AD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306FAA-77C5-23DA-ABA4-06D17FC76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19FE24-9363-87C0-8044-CC53A27B8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42085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커리큘럼_상세 커리큘럼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8">
            <a:extLst>
              <a:ext uri="{FF2B5EF4-FFF2-40B4-BE49-F238E27FC236}">
                <a16:creationId xmlns:a16="http://schemas.microsoft.com/office/drawing/2014/main" id="{61F7B32C-D00F-CDA7-CCB7-9424CD768B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3385" y="338260"/>
            <a:ext cx="8758109" cy="39663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 i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kumimoji="1" lang="ko-KR" altLang="en-US" dirty="0"/>
              <a:t>커리큘럼</a:t>
            </a:r>
          </a:p>
        </p:txBody>
      </p:sp>
      <p:sp>
        <p:nvSpPr>
          <p:cNvPr id="7" name="텍스트 개체 틀 60">
            <a:extLst>
              <a:ext uri="{FF2B5EF4-FFF2-40B4-BE49-F238E27FC236}">
                <a16:creationId xmlns:a16="http://schemas.microsoft.com/office/drawing/2014/main" id="{7AF35CEB-6702-9ADA-47B9-2370D9C550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3385" y="769150"/>
            <a:ext cx="7096384" cy="26161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="0" i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  <a:lvl2pPr>
              <a:defRPr sz="1400" b="0" i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2pPr>
            <a:lvl3pPr>
              <a:defRPr sz="1400" b="0" i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3pPr>
            <a:lvl4pPr>
              <a:defRPr sz="1400" b="0" i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4pPr>
            <a:lvl5pPr>
              <a:defRPr sz="1400" b="0" i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5pPr>
          </a:lstStyle>
          <a:p>
            <a:pPr lvl="0"/>
            <a:r>
              <a:rPr kumimoji="1" lang="ko-KR" altLang="en-US" dirty="0"/>
              <a:t>상세 커리큘럼</a:t>
            </a:r>
          </a:p>
        </p:txBody>
      </p:sp>
      <p:sp>
        <p:nvSpPr>
          <p:cNvPr id="8" name="텍스트 개체 틀 58">
            <a:extLst>
              <a:ext uri="{FF2B5EF4-FFF2-40B4-BE49-F238E27FC236}">
                <a16:creationId xmlns:a16="http://schemas.microsoft.com/office/drawing/2014/main" id="{6652A889-B3B4-8766-BEC5-184E8F2E44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8267" y="338260"/>
            <a:ext cx="628489" cy="39663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 i="0">
                <a:solidFill>
                  <a:schemeClr val="accen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kumimoji="1" lang="en-US" altLang="ko-KR" dirty="0"/>
              <a:t>00</a:t>
            </a:r>
            <a:endParaRPr kumimoji="1" lang="ko-KR" altLang="en-US" dirty="0"/>
          </a:p>
        </p:txBody>
      </p:sp>
      <p:sp>
        <p:nvSpPr>
          <p:cNvPr id="2" name="그림 개체 틀 67">
            <a:extLst>
              <a:ext uri="{FF2B5EF4-FFF2-40B4-BE49-F238E27FC236}">
                <a16:creationId xmlns:a16="http://schemas.microsoft.com/office/drawing/2014/main" id="{1EDBE81E-424D-E8F8-4A1F-42EA5B4424C5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390968" y="1198242"/>
            <a:ext cx="11418739" cy="480270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80000" tIns="72000" rIns="180000" anchor="ctr" anchorCtr="0"/>
          <a:lstStyle>
            <a:lvl1pPr marL="0" indent="0" algn="l">
              <a:buNone/>
              <a:defRPr sz="1600" b="1" i="0">
                <a:solidFill>
                  <a:schemeClr val="bg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kumimoji="1" lang="ko-KR" altLang="en-US" dirty="0"/>
              <a:t>교육 과정 제목 한 줄 작성 </a:t>
            </a:r>
            <a:r>
              <a:rPr kumimoji="1" lang="en-US" altLang="ko-KR" dirty="0"/>
              <a:t>-</a:t>
            </a:r>
            <a:r>
              <a:rPr kumimoji="1" lang="ko-KR" altLang="en-US" dirty="0"/>
              <a:t>없다면 삭제하고 표는 보기 좋은 위치로 재배치 해주세요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99454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AACF041-EA3B-1BA7-228B-DADA855B1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C2248C2-9DF5-0ABB-89FF-AB4FCC305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3DEF54-A1B7-0A65-9FF0-EA229BCA93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D974BA-BE36-4DC8-A0A8-39C5C1060AD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F111E5-48FC-2339-A529-8DD09E142F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37DDE3-217E-E20F-4042-129701F176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4678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4935B-F999-7C9A-E679-DA99F73C1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4A8C559-2FB9-50FC-1413-AE70E78ECD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교육과정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4F0854E-96E3-F0B3-7C0F-DCDE78B6C3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02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5" name="그림 개체 틀 4">
            <a:extLst>
              <a:ext uri="{FF2B5EF4-FFF2-40B4-BE49-F238E27FC236}">
                <a16:creationId xmlns:a16="http://schemas.microsoft.com/office/drawing/2014/main" id="{E4A6B1C3-A0AF-18F1-A848-3D9B246959DF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390968" y="935699"/>
            <a:ext cx="11418739" cy="480270"/>
          </a:xfrm>
        </p:spPr>
        <p:txBody>
          <a:bodyPr/>
          <a:lstStyle/>
          <a:p>
            <a:r>
              <a:rPr lang="en-US" altLang="ko-KR" dirty="0"/>
              <a:t>{{</a:t>
            </a:r>
            <a:r>
              <a:rPr lang="ko-KR" altLang="en-US" dirty="0" err="1"/>
              <a:t>과정명</a:t>
            </a:r>
            <a:r>
              <a:rPr lang="en-US" altLang="ko-KR" dirty="0"/>
              <a:t>}} ({{</a:t>
            </a:r>
            <a:r>
              <a:rPr lang="ko-KR" altLang="en-US" dirty="0"/>
              <a:t>시간</a:t>
            </a:r>
            <a:r>
              <a:rPr lang="en-US" altLang="ko-KR" dirty="0"/>
              <a:t>}})</a:t>
            </a:r>
            <a:endParaRPr lang="ko-KR" altLang="en-US" dirty="0"/>
          </a:p>
        </p:txBody>
      </p:sp>
      <p:graphicFrame>
        <p:nvGraphicFramePr>
          <p:cNvPr id="7" name="표 27">
            <a:extLst>
              <a:ext uri="{FF2B5EF4-FFF2-40B4-BE49-F238E27FC236}">
                <a16:creationId xmlns:a16="http://schemas.microsoft.com/office/drawing/2014/main" id="{1D936A21-DC97-27D2-E858-606670B0F6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2549918"/>
              </p:ext>
            </p:extLst>
          </p:nvPr>
        </p:nvGraphicFramePr>
        <p:xfrm>
          <a:off x="390968" y="1616771"/>
          <a:ext cx="11418740" cy="4967859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233699">
                  <a:extLst>
                    <a:ext uri="{9D8B030D-6E8A-4147-A177-3AD203B41FA5}">
                      <a16:colId xmlns:a16="http://schemas.microsoft.com/office/drawing/2014/main" val="3843381911"/>
                    </a:ext>
                  </a:extLst>
                </a:gridCol>
                <a:gridCol w="618066">
                  <a:extLst>
                    <a:ext uri="{9D8B030D-6E8A-4147-A177-3AD203B41FA5}">
                      <a16:colId xmlns:a16="http://schemas.microsoft.com/office/drawing/2014/main" val="2973650714"/>
                    </a:ext>
                  </a:extLst>
                </a:gridCol>
                <a:gridCol w="5128634">
                  <a:extLst>
                    <a:ext uri="{9D8B030D-6E8A-4147-A177-3AD203B41FA5}">
                      <a16:colId xmlns:a16="http://schemas.microsoft.com/office/drawing/2014/main" val="2310150067"/>
                    </a:ext>
                  </a:extLst>
                </a:gridCol>
                <a:gridCol w="3438341">
                  <a:extLst>
                    <a:ext uri="{9D8B030D-6E8A-4147-A177-3AD203B41FA5}">
                      <a16:colId xmlns:a16="http://schemas.microsoft.com/office/drawing/2014/main" val="11845809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100" b="0" i="0" dirty="0" err="1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주제명</a:t>
                      </a:r>
                      <a:endParaRPr lang="ko-KR" altLang="en-US" sz="1100" b="0" i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80000" marR="180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100" b="0" i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시간</a:t>
                      </a:r>
                    </a:p>
                  </a:txBody>
                  <a:tcPr marL="180000" marR="180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100" b="0" i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학습내용</a:t>
                      </a:r>
                    </a:p>
                  </a:txBody>
                  <a:tcPr marL="180000" marR="180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100" b="0" i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실습 예시</a:t>
                      </a:r>
                    </a:p>
                  </a:txBody>
                  <a:tcPr marL="180000" marR="180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786449"/>
                  </a:ext>
                </a:extLst>
              </a:tr>
              <a:tr h="1551305"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AI </a:t>
                      </a:r>
                      <a:r>
                        <a:rPr lang="ko-KR" altLang="en-US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업무 재설계 패러다임</a:t>
                      </a:r>
                    </a:p>
                  </a:txBody>
                  <a:tcPr marR="76200" marT="101600" marB="1016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</a:t>
                      </a:r>
                      <a:r>
                        <a:rPr lang="ko-KR" altLang="en-US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시간</a:t>
                      </a:r>
                    </a:p>
                  </a:txBody>
                  <a:tcPr marR="76200" marT="101600" marB="1016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• </a:t>
                      </a:r>
                      <a:r>
                        <a:rPr lang="ko-KR" altLang="en-US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단순 질의응답 </a:t>
                      </a:r>
                      <a:r>
                        <a:rPr lang="ko-KR" altLang="en-US" sz="1100" b="0" dirty="0" err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챗봇</a:t>
                      </a:r>
                      <a:r>
                        <a:rPr lang="en-US" altLang="ko-KR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(ChatGPT </a:t>
                      </a:r>
                      <a:r>
                        <a:rPr lang="ko-KR" altLang="en-US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등</a:t>
                      </a:r>
                      <a:r>
                        <a:rPr lang="en-US" altLang="ko-KR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r>
                        <a:rPr lang="ko-KR" altLang="en-US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과 자동화 에이전트의 명확한 차이점 학습</a:t>
                      </a:r>
                    </a:p>
                    <a:p>
                      <a:pPr rtl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• </a:t>
                      </a:r>
                      <a:r>
                        <a:rPr lang="ko-KR" altLang="en-US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사람이 최종 결정만 내리는 </a:t>
                      </a:r>
                      <a:r>
                        <a:rPr lang="en-US" altLang="ko-KR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'</a:t>
                      </a:r>
                      <a:r>
                        <a:rPr lang="ko-KR" altLang="en-US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반자동화</a:t>
                      </a:r>
                      <a:r>
                        <a:rPr lang="en-US" altLang="ko-KR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(Human-in-the-loop)'</a:t>
                      </a:r>
                      <a:r>
                        <a:rPr lang="ko-KR" altLang="en-US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와 </a:t>
                      </a:r>
                      <a:r>
                        <a:rPr lang="en-US" altLang="ko-KR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'</a:t>
                      </a:r>
                      <a:r>
                        <a:rPr lang="ko-KR" altLang="en-US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완전 자동화</a:t>
                      </a:r>
                      <a:r>
                        <a:rPr lang="en-US" altLang="ko-KR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' </a:t>
                      </a:r>
                      <a:r>
                        <a:rPr lang="ko-KR" altLang="en-US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영역 구분</a:t>
                      </a:r>
                    </a:p>
                    <a:p>
                      <a:pPr rtl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• </a:t>
                      </a:r>
                      <a:r>
                        <a:rPr lang="ko-KR" altLang="en-US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현업 업무 중 </a:t>
                      </a:r>
                      <a:r>
                        <a:rPr lang="en-US" altLang="ko-KR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AI</a:t>
                      </a:r>
                      <a:r>
                        <a:rPr lang="ko-KR" altLang="en-US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가 대체했을 때 가장 효과가 큰 병목</a:t>
                      </a:r>
                      <a:r>
                        <a:rPr lang="en-US" altLang="ko-KR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구간 탐색 기준</a:t>
                      </a:r>
                      <a:endParaRPr lang="en-US" altLang="ko-KR" sz="1100" b="0" dirty="0">
                        <a:solidFill>
                          <a:srgbClr val="1F1F1F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rtl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• API / RAG / RPA </a:t>
                      </a:r>
                      <a:r>
                        <a:rPr lang="ko-KR" altLang="en-US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개념 및 적용 개념 이해</a:t>
                      </a:r>
                      <a:endParaRPr lang="en-US" altLang="ko-KR" sz="1100" b="0" dirty="0">
                        <a:solidFill>
                          <a:srgbClr val="1F1F1F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R="76200" marT="101600" marB="1016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나의 일주일 업무 일지를 나열하고</a:t>
                      </a:r>
                      <a:r>
                        <a:rPr lang="en-US" altLang="ko-KR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br>
                        <a:rPr lang="en-US" altLang="ko-KR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AI</a:t>
                      </a:r>
                      <a:r>
                        <a:rPr lang="ko-KR" altLang="en-US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가 대체할 수 있는 단순 반복 업무 </a:t>
                      </a:r>
                      <a:r>
                        <a:rPr lang="en-US" altLang="ko-KR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</a:t>
                      </a:r>
                      <a:r>
                        <a:rPr lang="ko-KR" altLang="en-US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가지 도출</a:t>
                      </a:r>
                    </a:p>
                  </a:txBody>
                  <a:tcPr marT="101600" marB="1016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35823"/>
                  </a:ext>
                </a:extLst>
              </a:tr>
              <a:tr h="1551305"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비효율 진단 및 워크플로우 매핑</a:t>
                      </a:r>
                    </a:p>
                  </a:txBody>
                  <a:tcPr marR="76200" marT="101600" marB="1016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</a:t>
                      </a:r>
                      <a:r>
                        <a:rPr lang="ko-KR" altLang="en-US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시간</a:t>
                      </a:r>
                    </a:p>
                  </a:txBody>
                  <a:tcPr marR="76200" marT="101600" marB="1016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• </a:t>
                      </a:r>
                      <a:r>
                        <a:rPr lang="ko-KR" altLang="en-US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온라인 시각화 협업 툴의 캔버스 접속 및 활용 플로우 시각화 실습</a:t>
                      </a:r>
                    </a:p>
                    <a:p>
                      <a:pPr rtl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• </a:t>
                      </a:r>
                      <a:r>
                        <a:rPr lang="ko-KR" altLang="en-US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현재 내 업무의 흐름</a:t>
                      </a:r>
                      <a:r>
                        <a:rPr lang="en-US" altLang="ko-KR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(As-Is)</a:t>
                      </a:r>
                      <a:r>
                        <a:rPr lang="ko-KR" altLang="en-US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을 순서대로 분해하여 </a:t>
                      </a:r>
                      <a:r>
                        <a:rPr lang="ko-KR" altLang="en-US" sz="1100" b="0" dirty="0" err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포스트잇</a:t>
                      </a:r>
                      <a:r>
                        <a:rPr lang="ko-KR" altLang="en-US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형태로 시각화 매핑</a:t>
                      </a:r>
                    </a:p>
                    <a:p>
                      <a:pPr rtl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• </a:t>
                      </a:r>
                      <a:r>
                        <a:rPr lang="ko-KR" altLang="en-US" sz="1100" b="0" dirty="0" err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매핑된</a:t>
                      </a:r>
                      <a:r>
                        <a:rPr lang="ko-KR" altLang="en-US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흐름 위에 </a:t>
                      </a:r>
                      <a:r>
                        <a:rPr lang="en-US" altLang="ko-KR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AI </a:t>
                      </a:r>
                      <a:r>
                        <a:rPr lang="ko-KR" altLang="en-US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툴</a:t>
                      </a:r>
                      <a:r>
                        <a:rPr lang="en-US" altLang="ko-KR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(API, </a:t>
                      </a:r>
                      <a:r>
                        <a:rPr lang="ko-KR" altLang="en-US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사내 지식 검색 등</a:t>
                      </a:r>
                      <a:r>
                        <a:rPr lang="en-US" altLang="ko-KR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r>
                        <a:rPr lang="ko-KR" altLang="en-US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 투입될 위치를 연결하는 </a:t>
                      </a:r>
                      <a:r>
                        <a:rPr lang="en-US" altLang="ko-KR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To-Be </a:t>
                      </a:r>
                      <a:r>
                        <a:rPr lang="ko-KR" altLang="en-US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스케치</a:t>
                      </a:r>
                    </a:p>
                  </a:txBody>
                  <a:tcPr marR="76200" marT="101600" marB="1016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Miro </a:t>
                      </a:r>
                      <a:r>
                        <a:rPr lang="ko-KR" altLang="en-US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캔버스에 </a:t>
                      </a:r>
                      <a:r>
                        <a:rPr lang="en-US" altLang="ko-KR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'</a:t>
                      </a:r>
                      <a:r>
                        <a:rPr lang="ko-KR" altLang="en-US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월간 실적 보고서 작성</a:t>
                      </a:r>
                      <a:r>
                        <a:rPr lang="en-US" altLang="ko-KR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' </a:t>
                      </a:r>
                      <a:r>
                        <a:rPr lang="ko-KR" altLang="en-US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업무의 </a:t>
                      </a:r>
                      <a:br>
                        <a:rPr lang="en-US" altLang="ko-KR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10</a:t>
                      </a:r>
                      <a:r>
                        <a:rPr lang="ko-KR" altLang="en-US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단계를 그리고 </a:t>
                      </a:r>
                      <a:r>
                        <a:rPr lang="en-US" altLang="ko-KR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AI </a:t>
                      </a:r>
                      <a:r>
                        <a:rPr lang="ko-KR" altLang="en-US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투입 지점 </a:t>
                      </a:r>
                      <a:r>
                        <a:rPr lang="ko-KR" altLang="en-US" sz="1100" b="0" dirty="0" err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포스트잇</a:t>
                      </a:r>
                      <a:r>
                        <a:rPr lang="ko-KR" altLang="en-US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붙이기</a:t>
                      </a:r>
                    </a:p>
                  </a:txBody>
                  <a:tcPr marT="101600" marB="1016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963944"/>
                  </a:ext>
                </a:extLst>
              </a:tr>
              <a:tr h="1551305"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AI </a:t>
                      </a:r>
                      <a:r>
                        <a:rPr lang="ko-KR" altLang="en-US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도입 타당성 검토 및 기획서</a:t>
                      </a:r>
                    </a:p>
                  </a:txBody>
                  <a:tcPr marR="76200" marT="101600" marB="1016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</a:t>
                      </a:r>
                      <a:r>
                        <a:rPr lang="ko-KR" altLang="en-US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시간</a:t>
                      </a:r>
                    </a:p>
                  </a:txBody>
                  <a:tcPr marR="76200" marT="101600" marB="1016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• </a:t>
                      </a:r>
                      <a:r>
                        <a:rPr lang="ko-KR" altLang="en-US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설계한 프로세스를 작은 단위로 분해하여 </a:t>
                      </a:r>
                      <a:r>
                        <a:rPr lang="en-US" altLang="ko-KR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AI </a:t>
                      </a:r>
                      <a:r>
                        <a:rPr lang="ko-KR" altLang="en-US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단계별 </a:t>
                      </a:r>
                      <a:r>
                        <a:rPr lang="ko-KR" altLang="en-US" sz="1100" b="0" dirty="0" err="1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프롬프팅으로</a:t>
                      </a:r>
                      <a:r>
                        <a:rPr lang="ko-KR" altLang="en-US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실행 시뮬레이션</a:t>
                      </a:r>
                    </a:p>
                    <a:p>
                      <a:pPr rtl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• AI </a:t>
                      </a:r>
                      <a:r>
                        <a:rPr lang="ko-KR" altLang="en-US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도입 전후의 작업 소요 시간 및 리소스 절감 효과</a:t>
                      </a:r>
                      <a:r>
                        <a:rPr lang="en-US" altLang="ko-KR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(ROI) </a:t>
                      </a:r>
                      <a:r>
                        <a:rPr lang="ko-KR" altLang="en-US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예측 방법론</a:t>
                      </a:r>
                    </a:p>
                    <a:p>
                      <a:pPr rtl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• </a:t>
                      </a:r>
                      <a:r>
                        <a:rPr lang="ko-KR" altLang="en-US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부서장에게 즉시 보고하거나 에이전트화 설계도로 쓸 최종 기획서 완성</a:t>
                      </a:r>
                    </a:p>
                  </a:txBody>
                  <a:tcPr marR="76200" marT="101600" marB="1016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설계한 워크플로우 중 </a:t>
                      </a:r>
                      <a:r>
                        <a:rPr lang="en-US" altLang="ko-KR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</a:t>
                      </a:r>
                      <a:r>
                        <a:rPr lang="ko-KR" altLang="en-US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개 구간을 선정해 </a:t>
                      </a:r>
                      <a:br>
                        <a:rPr lang="en-US" altLang="ko-KR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'1</a:t>
                      </a:r>
                      <a:r>
                        <a:rPr lang="ko-KR" altLang="en-US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장짜리 </a:t>
                      </a:r>
                      <a:r>
                        <a:rPr lang="en-US" altLang="ko-KR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AI </a:t>
                      </a:r>
                      <a:r>
                        <a:rPr lang="ko-KR" altLang="en-US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에이전트 도입 기획서</a:t>
                      </a:r>
                      <a:r>
                        <a:rPr lang="en-US" altLang="ko-KR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' </a:t>
                      </a:r>
                      <a:r>
                        <a:rPr lang="ko-KR" altLang="en-US" sz="1100" b="0" dirty="0">
                          <a:solidFill>
                            <a:srgbClr val="1F1F1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작성 및 발표</a:t>
                      </a:r>
                    </a:p>
                  </a:txBody>
                  <a:tcPr marT="101600" marB="1016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9343243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55E1B479-6D35-5516-74AD-C41A6FD68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0288" y="361520"/>
            <a:ext cx="2000250" cy="27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083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954</TotalTime>
  <Words>247</Words>
  <Application>Microsoft Office PowerPoint</Application>
  <PresentationFormat>와이드스크린</PresentationFormat>
  <Paragraphs>35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0" baseType="lpstr">
      <vt:lpstr>Pretendard</vt:lpstr>
      <vt:lpstr>Pretendard Medium</vt:lpstr>
      <vt:lpstr>Pretendard SemiBold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임 진현</dc:creator>
  <cp:lastModifiedBy>최 윤석</cp:lastModifiedBy>
  <cp:revision>32</cp:revision>
  <dcterms:created xsi:type="dcterms:W3CDTF">2026-01-11T12:56:14Z</dcterms:created>
  <dcterms:modified xsi:type="dcterms:W3CDTF">2026-02-26T10:12:53Z</dcterms:modified>
</cp:coreProperties>
</file>